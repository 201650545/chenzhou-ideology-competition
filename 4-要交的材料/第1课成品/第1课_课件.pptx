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g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691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645920"/>
            <a:ext cx="12191695" cy="45720"/>
          </a:xfrm>
          <a:prstGeom prst="rect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310896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FFFFFF"/>
                </a:solidFill>
                <a:latin typeface="微软雅黑"/>
              </a:rPr>
              <a:t>最喜欢的课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4300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C845"/>
                </a:solidFill>
                <a:latin typeface="微软雅黑"/>
              </a:rPr>
              <a:t>四年级 · 心理健康教育 · 第 1 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A8B6CE"/>
                </a:solidFill>
                <a:latin typeface="微软雅黑"/>
              </a:rPr>
              <a:t>承认有不喜欢，并学会对待它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今天我们要做的事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3818" cy="18288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7452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① 涂星星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50008"/>
            <a:ext cx="30214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给 12 门课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涂上你心里的星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3938" y="1691640"/>
            <a:ext cx="3423818" cy="18288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85106" y="187452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② 看不同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106" y="2350008"/>
            <a:ext cx="30214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一样的课表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每个人不一样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2076" y="1691640"/>
            <a:ext cx="3423818" cy="18288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3244" y="187452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③ 说理由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3244" y="2350008"/>
            <a:ext cx="30214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喜欢和不喜欢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都是有原因的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3423818" cy="18288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6968" y="397764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④ 缺了它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453128"/>
            <a:ext cx="30214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假如没有这门课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我们会怎么样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3938" y="3794760"/>
            <a:ext cx="3423818" cy="18288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85106" y="397764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⑤ 走一步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5106" y="4453128"/>
            <a:ext cx="30214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两个小行动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带回家里去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2076" y="3794760"/>
            <a:ext cx="3423818" cy="18288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83244" y="397764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⑥ 说发现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3244" y="4453128"/>
            <a:ext cx="30214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今天我最大的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发现是……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一节课 40 分钟 · 一张学习单，正面写完翻反面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我们班的 12 门课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8B6CE"/>
                </a:solidFill>
                <a:latin typeface="微软雅黑"/>
              </a:rPr>
              <a:t>先看看这一学期，我们都要学些什么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语文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78308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02152" y="178308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数学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4" y="178308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18504" y="178308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道德与法治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178308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34856" y="178308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音乐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07791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2907791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美术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2152" y="2907791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02152" y="2907791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体育与健康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2907791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18504" y="2907791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信息科技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2907791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34856" y="2907791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科学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32504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4032504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劳动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2152" y="4032504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02152" y="4032504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心理健康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4" y="4032504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18504" y="4032504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英语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856" y="4032504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34856" y="4032504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综合实践活动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每一门都在你的课表里 · 每一门都有它的位置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5318607" y="1371600"/>
            <a:ext cx="1554480" cy="1554480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18607" y="1371600"/>
            <a:ext cx="15544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1B2A4A"/>
                </a:solidFill>
                <a:latin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600" b="1">
                <a:solidFill>
                  <a:srgbClr val="FFFFFF"/>
                </a:solidFill>
                <a:latin typeface="微软雅黑"/>
              </a:rPr>
              <a:t>我的课表星星榜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FFC845"/>
                </a:solidFill>
                <a:latin typeface="微软雅黑"/>
              </a:rPr>
              <a:t>环节一 · 涂星自评（5 分钟）</a:t>
            </a:r>
          </a:p>
        </p:txBody>
      </p:sp>
      <p:sp>
        <p:nvSpPr>
          <p:cNvPr id="7" name="5-Point Star 6"/>
          <p:cNvSpPr/>
          <p:nvPr/>
        </p:nvSpPr>
        <p:spPr>
          <a:xfrm rot="1200000">
            <a:off x="8193214" y="443288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002191" y="276153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21000000">
            <a:off x="2977712" y="369931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21000000">
            <a:off x="11707420" y="6374010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1200000">
            <a:off x="3521758" y="619524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954834" y="287903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3777853" y="277078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 rot="720000">
            <a:off x="309428" y="3073838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 rot="1200000">
            <a:off x="6061097" y="6309280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 rot="720000">
            <a:off x="7618829" y="907317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 rot="21000000">
            <a:off x="188319" y="5557239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1200000">
            <a:off x="11710279" y="304942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怎么涂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8B6CE"/>
                </a:solidFill>
                <a:latin typeface="微软雅黑"/>
              </a:rPr>
              <a:t>打开学习单 · 正面 · 环节一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★★★  三颗星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302148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最喜欢。上这门课的时候，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时间过得特别快。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182880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85106" y="201168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★★   两颗星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106" y="2487168"/>
            <a:ext cx="302148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还不错。说不上喜欢，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也不讨厌。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2076" y="182880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83244" y="201168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★    一颗星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244" y="2487168"/>
            <a:ext cx="302148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不太喜欢。上课的时候，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总想看窗外。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97680"/>
            <a:ext cx="10820095" cy="11887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102714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C845"/>
                </a:solidFill>
                <a:latin typeface="微软雅黑"/>
              </a:rPr>
              <a:t>涂你心里真实的星，不用看别人的。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C845"/>
                </a:solidFill>
                <a:latin typeface="微软雅黑"/>
              </a:rPr>
              <a:t>没有哪一颗是错的。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现在，开始涂吧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mg02_tux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493776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737360"/>
            <a:ext cx="5562295" cy="329184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72200" y="1965960"/>
            <a:ext cx="5105095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给 12 门课都涂上星星。</a:t>
            </a:r>
          </a:p>
          <a:p>
            <a:pPr algn="l">
              <a:lnSpc>
                <a:spcPct val="15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音乐响起就开始，</a:t>
            </a:r>
          </a:p>
          <a:p>
            <a:pPr algn="l">
              <a:lnSpc>
                <a:spcPct val="15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音乐停下就放下笔。</a:t>
            </a:r>
          </a:p>
          <a:p>
            <a:pPr algn="l">
              <a:lnSpc>
                <a:spcPct val="15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不用和同桌商量，</a:t>
            </a:r>
          </a:p>
          <a:p>
            <a:pPr algn="l">
              <a:lnSpc>
                <a:spcPct val="15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这是你自己的星星。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教师：播放轻音乐约 3 分钟，巡视不评价、不指导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你涂出了什么？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23818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看一看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32887"/>
            <a:ext cx="302148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哪门课三星？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哪门课只有一颗？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874519"/>
            <a:ext cx="3423818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85106" y="205740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想一想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06" y="2532887"/>
            <a:ext cx="302148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有没有哪一门，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你犹豫了很久才下笔？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076" y="1874519"/>
            <a:ext cx="3423818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83244" y="205740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比一比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3244" y="2532887"/>
            <a:ext cx="302148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同桌之间，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涂得一样吗？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10820095" cy="10972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102714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C845"/>
                </a:solidFill>
                <a:latin typeface="微软雅黑"/>
              </a:rPr>
              <a:t>教师引导语：「谁愿意说说，你给哪门课涂了三颗星？又给哪门课只涂了一颗？」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g03_dui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143000"/>
            <a:ext cx="54864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一样的课表，不一样的星星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C845"/>
                </a:solidFill>
                <a:latin typeface="微软雅黑"/>
              </a:rPr>
              <a:t>环节二 · 引出主题（3 分钟）</a:t>
            </a:r>
          </a:p>
        </p:txBody>
      </p:sp>
      <p:sp>
        <p:nvSpPr>
          <p:cNvPr id="6" name="5-Point Star 5"/>
          <p:cNvSpPr/>
          <p:nvPr/>
        </p:nvSpPr>
        <p:spPr>
          <a:xfrm rot="1200000">
            <a:off x="219621" y="2490018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 rot="1200000">
            <a:off x="671922" y="6385635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 rot="1200000">
            <a:off x="7297405" y="394724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1017263" y="327285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2341978" y="413810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1674920" y="2586686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720000">
            <a:off x="11531092" y="200489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 rot="720000">
            <a:off x="11503406" y="883699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 rot="720000">
            <a:off x="2029810" y="411061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4884556" y="6333084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为什么会不一样？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23818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有人喜欢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32887"/>
            <a:ext cx="302148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跑起来、唱起来、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画出来的课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874519"/>
            <a:ext cx="3423818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85106" y="205740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有人喜欢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06" y="2532887"/>
            <a:ext cx="302148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安安静静、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想明白一道题的课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076" y="1874519"/>
            <a:ext cx="3423818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83244" y="205740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每个人都不同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3244" y="2532887"/>
            <a:ext cx="302148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喜欢不一样，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一点也不奇怪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10820095" cy="10972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102714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C845"/>
                </a:solidFill>
                <a:latin typeface="微软雅黑"/>
              </a:rPr>
              <a:t>教师引导语：「同一张课表，涂出来的星星却不一样。这说明了什么？」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说出「我不喜欢」，不是坏事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600200" y="1783080"/>
            <a:ext cx="8991295" cy="28346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920240" y="2103120"/>
            <a:ext cx="8351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B2A4A"/>
                </a:solidFill>
                <a:latin typeface="微软雅黑"/>
              </a:rPr>
              <a:t>这节课，我们不比谁更喜欢学习。</a:t>
            </a:r>
          </a:p>
          <a:p>
            <a:pPr algn="l">
              <a:lnSpc>
                <a:spcPct val="150000"/>
              </a:lnSpc>
            </a:pPr>
            <a:r>
              <a:rPr sz="2400" b="1">
                <a:solidFill>
                  <a:srgbClr val="1B2A4A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400" b="1">
                <a:solidFill>
                  <a:srgbClr val="1B2A4A"/>
                </a:solidFill>
                <a:latin typeface="微软雅黑"/>
              </a:rPr>
              <a:t>不喜欢，是一种真实的感受。</a:t>
            </a:r>
          </a:p>
          <a:p>
            <a:pPr algn="l">
              <a:lnSpc>
                <a:spcPct val="150000"/>
              </a:lnSpc>
            </a:pPr>
            <a:r>
              <a:rPr sz="2400" b="1">
                <a:solidFill>
                  <a:srgbClr val="1B2A4A"/>
                </a:solidFill>
                <a:latin typeface="微软雅黑"/>
              </a:rPr>
              <a:t>先把它说出来，我们才有可能</a:t>
            </a:r>
          </a:p>
          <a:p>
            <a:pPr algn="l">
              <a:lnSpc>
                <a:spcPct val="150000"/>
              </a:lnSpc>
            </a:pPr>
            <a:r>
              <a:rPr sz="2400" b="1">
                <a:solidFill>
                  <a:srgbClr val="1B2A4A"/>
                </a:solidFill>
                <a:latin typeface="微软雅黑"/>
              </a:rPr>
              <a:t>好好地对待它。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教师：语气要平、要慢 —— 这句话是整节课的定调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g04_shuoli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143000"/>
            <a:ext cx="54864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喜欢，是有理由的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C845"/>
                </a:solidFill>
                <a:latin typeface="微软雅黑"/>
              </a:rPr>
              <a:t>环节三 · 说理由（8 分钟）</a:t>
            </a:r>
          </a:p>
        </p:txBody>
      </p:sp>
      <p:sp>
        <p:nvSpPr>
          <p:cNvPr id="6" name="5-Point Star 5"/>
          <p:cNvSpPr/>
          <p:nvPr/>
        </p:nvSpPr>
        <p:spPr>
          <a:xfrm rot="720000">
            <a:off x="324713" y="881767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 rot="1200000">
            <a:off x="11692258" y="761839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 rot="21000000">
            <a:off x="876588" y="503497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515077" y="5119227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21000000">
            <a:off x="10404621" y="891691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720000">
            <a:off x="1324941" y="6295069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1200000">
            <a:off x="9761335" y="335731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 rot="21000000">
            <a:off x="4210865" y="252436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5333079" y="6358132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 rot="21000000">
            <a:off x="11032724" y="417908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喜欢的理由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526715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有意思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32887"/>
            <a:ext cx="21243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上课像在玩，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不知不觉就下课了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0259" y="1874519"/>
            <a:ext cx="2526715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1427" y="205740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有成就感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1427" y="2532887"/>
            <a:ext cx="21243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我做出来了，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我真棒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1874519"/>
            <a:ext cx="2526715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5887" y="205740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有人陪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532887"/>
            <a:ext cx="21243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有好朋友一起上，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还有老师夸我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179" y="1874519"/>
            <a:ext cx="2526715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80347" y="205740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有用处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347" y="2532887"/>
            <a:ext cx="21243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学了马上能用，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生活里真的用得上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教师：把学生说出的理由，归到这四栏里板书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不喜欢的理由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526715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太难了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32887"/>
            <a:ext cx="21243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听不懂，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怎么努力都跟不上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0259" y="1874519"/>
            <a:ext cx="2526715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1427" y="205740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没意思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1427" y="2532887"/>
            <a:ext cx="21243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老师讲，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我坐着等下课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1874519"/>
            <a:ext cx="2526715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5887" y="205740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用不上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532887"/>
            <a:ext cx="21243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长大了又用不到，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学它干什么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179" y="1874519"/>
            <a:ext cx="2526715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80347" y="205740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会紧张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347" y="2532887"/>
            <a:ext cx="21243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怕被点名，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怕答错被笑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教师：四条都写下来，尤其是「用不上」——下一页要用到它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在教室里，把它抓出来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8B6CE"/>
                </a:solidFill>
                <a:latin typeface="微软雅黑"/>
              </a:rPr>
              <a:t>针对那句「这门课我以后用不上」</a:t>
            </a:r>
          </a:p>
        </p:txBody>
      </p:sp>
      <p:pic>
        <p:nvPicPr>
          <p:cNvPr id="8" name="Picture 7" descr="img05_jiaos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75488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691640"/>
            <a:ext cx="5745175" cy="32004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0" y="1920240"/>
            <a:ext cx="5196535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FFFFFF"/>
                </a:solidFill>
                <a:latin typeface="微软雅黑"/>
              </a:rPr>
              <a:t>你说「美术」没用 ——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FFFFFF"/>
                </a:solidFill>
                <a:latin typeface="微软雅黑"/>
              </a:rPr>
              <a:t>  教室后面那块板报是谁画的？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FFFFFF"/>
                </a:solidFill>
                <a:latin typeface="微软雅黑"/>
              </a:rPr>
              <a:t>你说「数学」没用 ——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FFFFFF"/>
                </a:solidFill>
                <a:latin typeface="微软雅黑"/>
              </a:rPr>
              <a:t>  昨天买零食，找钱你算过没有？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FFFFFF"/>
                </a:solidFill>
                <a:latin typeface="微软雅黑"/>
              </a:rPr>
              <a:t>你说「体育」没用 ——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FFFFFF"/>
                </a:solidFill>
                <a:latin typeface="微软雅黑"/>
              </a:rPr>
              <a:t>  你上次生病，请了几天假？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教师：不反驳，只提问 —— 让证据从他自己的生活里冒出来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小挑战：找一找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417320" y="1737360"/>
            <a:ext cx="9357055" cy="301752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11680"/>
            <a:ext cx="8625535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>有没有哪一门课 ——</a:t>
            </a:r>
          </a:p>
          <a:p>
            <a:pPr algn="l">
              <a:lnSpc>
                <a:spcPct val="145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>你嘴上说「没用」，</a:t>
            </a:r>
          </a:p>
          <a:p>
            <a:pPr algn="l">
              <a:lnSpc>
                <a:spcPct val="145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>但其实天天都在用？</a:t>
            </a:r>
          </a:p>
          <a:p>
            <a:pPr algn="l">
              <a:lnSpc>
                <a:spcPct val="145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>想好了，在学习单正面写下来。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给 1 分钟 · 写在学习单正面「说理由」那一栏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g06_jia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27048"/>
            <a:ext cx="12191695" cy="45720"/>
          </a:xfrm>
          <a:prstGeom prst="rect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假如没有这门课……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05840"/>
            <a:ext cx="121916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FFC845"/>
                </a:solidFill>
                <a:latin typeface="微软雅黑"/>
              </a:rPr>
              <a:t>环节四 · 高潮（12 分钟）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认领一门课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10896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663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4 人小班</a:t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每人认领 1 门课，</a:t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4 个人 4 门课，</a:t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把黑板拼成 4 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33695" cy="310896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85055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30 人大班</a:t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4 人一组，每组认领 1 门，</a:t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7～8 个组拼成 7～8 块，</a:t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看看少了哪一块。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认领哪一门？就认领你星星最少的那一门 · 亲手把它从课表上拿下来，卡片留着，等会儿要贴回去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想一想：整整一星期没有它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600200" y="1737360"/>
            <a:ext cx="8991295" cy="137160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74519" y="1874519"/>
            <a:ext cx="8442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B2A4A"/>
                </a:solidFill>
                <a:latin typeface="微软雅黑"/>
              </a:rPr>
              <a:t>如果整整一个星期都没有这门课，</a:t>
            </a:r>
          </a:p>
          <a:p>
            <a:pPr algn="ctr">
              <a:lnSpc>
                <a:spcPct val="140000"/>
              </a:lnSpc>
            </a:pPr>
            <a:r>
              <a:rPr sz="2600" b="1">
                <a:solidFill>
                  <a:srgbClr val="1B2A4A"/>
                </a:solidFill>
                <a:latin typeface="微软雅黑"/>
              </a:rPr>
              <a:t>我们会变成什么样？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29000"/>
            <a:ext cx="3423818" cy="173736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361188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体育课没了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087368"/>
            <a:ext cx="302148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我们什么时候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才能跑一跑？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3429000"/>
            <a:ext cx="3423818" cy="173736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85106" y="361188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音乐课没了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106" y="4087368"/>
            <a:ext cx="302148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我们什么时候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才能唱两句？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2076" y="3429000"/>
            <a:ext cx="3423818" cy="173736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3244" y="3611880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美术课没了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3244" y="4087368"/>
            <a:ext cx="302148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教室会不会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少了很多颜色？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教师：一个个问下去 —— 每一问都落在学生自己的日子里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说一说：我们会变成什么样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20095" cy="30175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10088575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把小组讨论的结果，</a:t>
            </a:r>
          </a:p>
          <a:p>
            <a:pPr algn="l">
              <a:lnSpc>
                <a:spcPct val="145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写在学习单反面「假如没有这门课」那一栏。</a:t>
            </a:r>
          </a:p>
          <a:p>
            <a:pPr algn="l">
              <a:lnSpc>
                <a:spcPct val="145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写的时候想一想：</a:t>
            </a:r>
          </a:p>
          <a:p>
            <a:pPr algn="l">
              <a:lnSpc>
                <a:spcPct val="145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—— 那几天，我会少了什么？</a:t>
            </a:r>
          </a:p>
          <a:p>
            <a:pPr algn="l">
              <a:lnSpc>
                <a:spcPct val="145000"/>
              </a:lnSpc>
            </a:pPr>
            <a:r>
              <a:rPr sz="2100" b="0">
                <a:solidFill>
                  <a:srgbClr val="FFFFFF"/>
                </a:solidFill>
                <a:latin typeface="微软雅黑"/>
              </a:rPr>
              <a:t>—— 我们班会少了什么？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给 4 分钟讨论 · 然后每组说一句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让那门课，开口说话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8B6CE"/>
                </a:solidFill>
                <a:latin typeface="微软雅黑"/>
              </a:rPr>
              <a:t>心理剧 · 角色互换 —— 你就是那门被你冷落的课</a:t>
            </a:r>
          </a:p>
        </p:txBody>
      </p:sp>
      <p:pic>
        <p:nvPicPr>
          <p:cNvPr id="8" name="Picture 7" descr="img07_kak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572000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1691640"/>
            <a:ext cx="5928055" cy="310896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52160" y="1920240"/>
            <a:ext cx="5379415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300" b="1">
                <a:solidFill>
                  <a:srgbClr val="1B2A4A"/>
                </a:solidFill>
                <a:latin typeface="微软雅黑"/>
              </a:rPr>
              <a:t>现在，你就是那门课。</a:t>
            </a:r>
          </a:p>
          <a:p>
            <a:pPr algn="l">
              <a:lnSpc>
                <a:spcPct val="145000"/>
              </a:lnSpc>
            </a:pPr>
            <a:r>
              <a:rPr sz="2300" b="1">
                <a:solidFill>
                  <a:srgbClr val="1B2A4A"/>
                </a:solidFill>
                <a:latin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300" b="1">
                <a:solidFill>
                  <a:srgbClr val="1B2A4A"/>
                </a:solidFill>
                <a:latin typeface="微软雅黑"/>
              </a:rPr>
              <a:t>它被你冷落了整整一年。</a:t>
            </a:r>
          </a:p>
          <a:p>
            <a:pPr algn="l">
              <a:lnSpc>
                <a:spcPct val="145000"/>
              </a:lnSpc>
            </a:pPr>
            <a:r>
              <a:rPr sz="2300" b="1">
                <a:solidFill>
                  <a:srgbClr val="1B2A4A"/>
                </a:solidFill>
                <a:latin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300" b="1">
                <a:solidFill>
                  <a:srgbClr val="1B2A4A"/>
                </a:solidFill>
                <a:latin typeface="微软雅黑"/>
              </a:rPr>
              <a:t>它想对你说一句话 ——</a:t>
            </a:r>
          </a:p>
          <a:p>
            <a:pPr algn="l">
              <a:lnSpc>
                <a:spcPct val="145000"/>
              </a:lnSpc>
            </a:pPr>
            <a:r>
              <a:rPr sz="2300" b="1">
                <a:solidFill>
                  <a:srgbClr val="1B2A4A"/>
                </a:solidFill>
                <a:latin typeface="微软雅黑"/>
              </a:rPr>
              <a:t>会是什么？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教师：写完请 3～4 人站起来说 · 不评价、不纠正，只说「谢谢你说出来」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那为什么，学校还要开这门课？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508760" y="1691640"/>
            <a:ext cx="9174175" cy="173736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74519" y="1874519"/>
            <a:ext cx="844265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既然少了一门课我们会不舒服，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那为什么学校还要把它排进课表？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—— 这个问题，交给你们回答。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3703320"/>
            <a:ext cx="9174175" cy="17830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874519" y="3886200"/>
            <a:ext cx="844265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FFC845"/>
                </a:solidFill>
                <a:latin typeface="微软雅黑"/>
              </a:rPr>
              <a:t>刚才是你自己把它请出去的。</a:t>
            </a:r>
          </a:p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FFC845"/>
                </a:solidFill>
                <a:latin typeface="微软雅黑"/>
              </a:rPr>
              <a:t>现在——你还愿意让它一直留在外面吗？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教师：决定权交给学生。允许有人不贴回来 —— 那也很真实。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这门课，连着很远的将来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8B6CE"/>
                </a:solidFill>
                <a:latin typeface="微软雅黑"/>
              </a:rPr>
              <a:t>中国人在这些学科里，做过什么</a:t>
            </a:r>
          </a:p>
        </p:txBody>
      </p:sp>
      <p:pic>
        <p:nvPicPr>
          <p:cNvPr id="8" name="Picture 7" descr="img08_ch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93776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0" y="1691640"/>
            <a:ext cx="5562295" cy="30175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013655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祖冲之把圆周率算到小数点后七位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张衡造出地动仪，能测出远方地震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袁隆平的杂交水稻，让很多人吃饱饭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屠呦呦从青蒿里提取出青蒿素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北斗、嫦娥、中国天眼、量子九章……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这些，都是「数学」「科学」长出来的。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中国内容 · 占三分之二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这门课，连着整个世界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8B6CE"/>
                </a:solidFill>
                <a:latin typeface="微软雅黑"/>
              </a:rPr>
              <a:t>这些学科，在为全人类做什么</a:t>
            </a:r>
          </a:p>
        </p:txBody>
      </p:sp>
      <p:pic>
        <p:nvPicPr>
          <p:cNvPr id="8" name="Picture 7" descr="img09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93776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0" y="1691640"/>
            <a:ext cx="5562295" cy="30175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013655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气候变暖，要靠科学来回答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疾病与健康，要靠医学来守护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粮食与饥饿，要靠农学来解决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太空与海洋，要靠一代代人接力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微软雅黑"/>
              </a:rPr>
              <a:t>这些大题，也在等今天坐在教室里的你。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全球视野 · 占三分之一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g10_xingd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143000"/>
            <a:ext cx="54864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我的两个小行动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C845"/>
                </a:solidFill>
                <a:latin typeface="微软雅黑"/>
              </a:rPr>
              <a:t>环节五 · 迁移应用（7 分钟）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11696582" y="2694260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 rot="720000">
            <a:off x="510305" y="1788360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 rot="1200000">
            <a:off x="9011541" y="366144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330894" y="559703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2202795" y="6315014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0713170" y="6262953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 rot="21000000">
            <a:off x="5783438" y="6216617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302233" y="2881957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1698772" y="5977316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9876439" y="353107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行动一：给不喜欢的课，想个办法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663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那门课是：《　　　》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我的小办法是：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＿＿＿＿＿＿＿＿＿＿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＿＿＿＿＿＿＿＿＿＿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＿＿＿＿＿＿＿＿＿＿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33695" cy="30175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85055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可以想的方向：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· 上课前先翻一遍书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· 给自己定一个小目标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· 不懂的地方当天问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· 找一个学得好的同桌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写在学习单反面 · 环节五 第一块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行动二：给最喜欢的课，多走一步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663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那门课是：《　　　》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我要多走的这一步是：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＿＿＿＿＿＿＿＿＿＿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＿＿＿＿＿＿＿＿＿＿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＿＿＿＿＿＿＿＿＿＿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33695" cy="30175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85055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可以想的方向：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· 多做一道难题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· 找一本相关的课外书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· 把作品做得更好一点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微软雅黑"/>
              </a:rPr>
              <a:t>· 教一教还不会的同学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写在学习单反面 · 环节五 第二块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全面发展：每门课都好好学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988454" cy="2011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15861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15861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道德与法治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3710" y="1828800"/>
            <a:ext cx="1988454" cy="2011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94878" y="2011680"/>
            <a:ext cx="15861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4878" y="2487168"/>
            <a:ext cx="15861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语文 数学 英语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科学 信息科技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1620" y="1828800"/>
            <a:ext cx="1988454" cy="2011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02788" y="2011680"/>
            <a:ext cx="15861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2788" y="2487168"/>
            <a:ext cx="15861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体育与健康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9530" y="1828800"/>
            <a:ext cx="1988454" cy="2011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10698" y="2011680"/>
            <a:ext cx="15861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0698" y="2487168"/>
            <a:ext cx="15861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音乐 美术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17440" y="1828800"/>
            <a:ext cx="1988454" cy="20116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304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718608" y="2011680"/>
            <a:ext cx="15861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C845"/>
                </a:solidFill>
                <a:latin typeface="微软雅黑"/>
              </a:rPr>
              <a:t>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8608" y="2487168"/>
            <a:ext cx="15861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劳动 综合实践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97680"/>
            <a:ext cx="10820095" cy="12344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480560"/>
            <a:ext cx="102714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每门课都好好学，是给自己打底子；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最喜欢的那门，值得多花点时间。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先「全面」，再「个性」—— 顺序不能反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g11_fax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143000"/>
            <a:ext cx="54864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今天，我最大的发现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FFC845"/>
                </a:solidFill>
                <a:latin typeface="微软雅黑"/>
              </a:rPr>
              <a:t>环节六 · 反馈收口（5 分钟）</a:t>
            </a:r>
          </a:p>
        </p:txBody>
      </p:sp>
      <p:sp>
        <p:nvSpPr>
          <p:cNvPr id="6" name="5-Point Star 5"/>
          <p:cNvSpPr/>
          <p:nvPr/>
        </p:nvSpPr>
        <p:spPr>
          <a:xfrm rot="1200000">
            <a:off x="3553274" y="6281125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 rot="1200000">
            <a:off x="1689973" y="546199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345612" y="2578106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5068422" y="853777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 rot="21000000">
            <a:off x="4730452" y="897427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1200000">
            <a:off x="545271" y="3214554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2434785" y="628261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 rot="21000000">
            <a:off x="5828387" y="6240198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 rot="1200000">
            <a:off x="9835848" y="6164340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 rot="720000">
            <a:off x="11092169" y="659084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85800" y="384048"/>
            <a:ext cx="566928" cy="566928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1B2A4A"/>
                </a:solidFill>
                <a:latin typeface="微软雅黑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384048"/>
            <a:ext cx="100702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写下一句话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78992"/>
            <a:ext cx="10820095" cy="3200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783080" y="1783080"/>
            <a:ext cx="8625535" cy="23774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057400" y="2057400"/>
            <a:ext cx="80768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>今天我最大的发现是：</a:t>
            </a:r>
          </a:p>
          <a:p>
            <a:pPr algn="l">
              <a:lnSpc>
                <a:spcPct val="150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>＿＿＿＿＿＿＿＿＿＿＿＿＿＿＿＿＿＿</a:t>
            </a:r>
          </a:p>
          <a:p>
            <a:pPr algn="l">
              <a:lnSpc>
                <a:spcPct val="150000"/>
              </a:lnSpc>
            </a:pPr>
            <a:r>
              <a:rPr sz="2500" b="1">
                <a:solidFill>
                  <a:srgbClr val="1B2A4A"/>
                </a:solidFill>
                <a:latin typeface="微软雅黑"/>
              </a:rPr>
              <a:t>＿＿＿＿＿＿＿＿＿＿＿＿＿＿＿＿＿＿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8B6CE"/>
                </a:solidFill>
                <a:latin typeface="微软雅黑"/>
              </a:rPr>
              <a:t>写在学习单反面最后一行 · 下课前收上来，读两句就下课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5-Point Star 2"/>
          <p:cNvSpPr/>
          <p:nvPr/>
        </p:nvSpPr>
        <p:spPr>
          <a:xfrm rot="21000000">
            <a:off x="280837" y="6294211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 rot="720000">
            <a:off x="424581" y="3938633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 rot="21000000">
            <a:off x="520966" y="789547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 rot="720000">
            <a:off x="8804596" y="336121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 rot="1200000">
            <a:off x="10278587" y="6293924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 rot="21000000">
            <a:off x="1239957" y="6363851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 rot="1200000">
            <a:off x="251506" y="5456764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1654058" y="6101330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 rot="21000000">
            <a:off x="2145028" y="6277149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7953382" y="6184227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499083" y="2490213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 rot="21000000">
            <a:off x="10185675" y="6184047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 rot="1200000">
            <a:off x="3550163" y="581535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 rot="1200000">
            <a:off x="7656049" y="594835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7160896" y="190091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 rot="720000">
            <a:off x="8875991" y="751041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 rot="720000">
            <a:off x="1031018" y="429681"/>
            <a:ext cx="82296" cy="82296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2167555" y="6150794"/>
            <a:ext cx="109728" cy="109728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 rot="21000000">
            <a:off x="8693203" y="231290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2462896" y="369011"/>
            <a:ext cx="146304" cy="146304"/>
          </a:xfrm>
          <a:prstGeom prst="star5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155448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FFFFFF"/>
                </a:solidFill>
                <a:latin typeface="微软雅黑"/>
              </a:rPr>
              <a:t>把你的星空，点亮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81447" y="2697480"/>
            <a:ext cx="1828800" cy="54864"/>
          </a:xfrm>
          <a:prstGeom prst="roundRect">
            <a:avLst>
              <a:gd name="adj" fmla="val 6000"/>
            </a:avLst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514600" y="3200400"/>
            <a:ext cx="7162495" cy="210312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9525">
            <a:solidFill>
              <a:srgbClr val="FFC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834640" y="3474720"/>
            <a:ext cx="65224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课后小任务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1. 把「两个小行动」真的做一次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2. 下周上课，告诉我们它有没有用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3. 把学习单贴在自己的书桌前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FFC845"/>
                </a:solidFill>
                <a:latin typeface="微软雅黑"/>
              </a:rPr>
              <a:t>承认有不喜欢，并学会对待它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